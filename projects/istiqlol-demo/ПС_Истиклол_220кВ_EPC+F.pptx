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pptx_assets/r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>
              <a:alpha val="4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7724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4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NURA GROUP · NURA ELECTRIC · NURA EPC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69164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Подстанция 220/110/10 кВ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«Истиклол»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7490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Строительство под ключ в формате EPC + финансирование.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Предложение для инвестиционного партнёра.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77240" y="480060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081426">
              <a:alpha val="60000"/>
            </a:srgbClr>
          </a:solidFill>
          <a:ln w="12700">
            <a:solidFill>
              <a:srgbClr val="FFB0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800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NURA GROUP · NURA ELECTRIC · NURA EPC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488375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Демонстрационные данные · 02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2D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СУТЬ ПРЕДЛОЖЕНИЯ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Узловая подстанция 220 кВ — под ключ, с финансированием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3294A"/>
          </a:solidFill>
          <a:ln w="12700">
            <a:solidFill>
              <a:srgbClr val="3A58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214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</a:t>
            </a:r>
            <a:pPr indent="0" marL="0">
              <a:buNone/>
            </a:pPr>
            <a:r>
              <a:rPr lang="en-US" sz="16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МВА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Установленная мощность — два автотрансформатора по 125 МВА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3294A"/>
          </a:solidFill>
          <a:ln w="12700">
            <a:solidFill>
              <a:srgbClr val="3A58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21214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220/110/10</a:t>
            </a:r>
            <a:pPr indent="0" marL="0">
              <a:buNone/>
            </a:pPr>
            <a:r>
              <a:rPr lang="en-US" sz="16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кВ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971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класса напряжения: ОРУ-220, ОРУ-110, ЗРУ-10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9202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3294A"/>
          </a:solidFill>
          <a:ln w="12700">
            <a:solidFill>
              <a:srgbClr val="3A587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1214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indent="0" marL="0">
              <a:buNone/>
            </a:pPr>
            <a:r>
              <a:rPr lang="en-US" sz="16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мес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971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реализации от контракта до ввода в эксплуатацию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1605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3294A"/>
          </a:solidFill>
          <a:ln w="12700">
            <a:solidFill>
              <a:srgbClr val="3A587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3616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48,5</a:t>
            </a:r>
            <a:pPr indent="0" marL="0">
              <a:buNone/>
            </a:pPr>
            <a:r>
              <a:rPr lang="en-US" sz="16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млн USD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212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EPC-контракта (демонстрационная оценка)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97680" y="41605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3294A"/>
          </a:solidFill>
          <a:ln w="12700">
            <a:solidFill>
              <a:srgbClr val="3A587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26280" y="43616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pPr indent="0" marL="0">
              <a:buNone/>
            </a:pPr>
            <a:r>
              <a:rPr lang="en-US" sz="16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5212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привлекаемого финансирования · срок 7 лет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pptx_assets/r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81426">
              <a:alpha val="6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02920" y="3657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2D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СОСТАВ ОБЪЕКТА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7132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строим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" y="557784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0E2240">
              <a:alpha val="88000"/>
            </a:srgbClr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0936" y="5669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ОРУ-220 кВ
</a:t>
            </a:r>
            <a:pPr indent="0" marL="0">
              <a:buNone/>
            </a:pPr>
            <a:r>
              <a:rPr lang="en-US" sz="1050" dirty="0">
                <a:solidFill>
                  <a:srgbClr val="2D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ячейки · 2 ВЛ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807208" y="557784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0E2240">
              <a:alpha val="88000"/>
            </a:srgbClr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35224" y="5669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АТ-1, АТ-2
</a:t>
            </a:r>
            <a:pPr indent="0" marL="0">
              <a:buNone/>
            </a:pPr>
            <a:r>
              <a:rPr lang="en-US" sz="1050" dirty="0">
                <a:solidFill>
                  <a:srgbClr val="2D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125 МВА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111496" y="557784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0E2240">
              <a:alpha val="88000"/>
            </a:srgbClr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39512" y="5669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ОРУ-110 кВ
</a:t>
            </a:r>
            <a:pPr indent="0" marL="0">
              <a:buNone/>
            </a:pPr>
            <a:r>
              <a:rPr lang="en-US" sz="1050" dirty="0">
                <a:solidFill>
                  <a:srgbClr val="2D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ячеек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15784" y="557784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0E2240">
              <a:alpha val="88000"/>
            </a:srgbClr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43800" y="5669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ЗРУ-10 кВ
</a:t>
            </a:r>
            <a:pPr indent="0" marL="0">
              <a:buNone/>
            </a:pPr>
            <a:r>
              <a:rPr lang="en-US" sz="1050" dirty="0">
                <a:solidFill>
                  <a:srgbClr val="2D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секции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720072" y="557784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0E2240">
              <a:alpha val="88000"/>
            </a:srgbClr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848088" y="5669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
</a:t>
            </a:r>
            <a:pPr indent="0" marL="0">
              <a:buNone/>
            </a:pPr>
            <a:r>
              <a:rPr lang="en-US" sz="1050" dirty="0">
                <a:solidFill>
                  <a:srgbClr val="2D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РЗА и АСУ ТП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NURA GROUP · NURA ELECTRIC · NURA EPC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488375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Демонстрационные данные ·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pptx_assets/r_explo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3736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0" y="0"/>
            <a:ext cx="5340096" cy="6858000"/>
          </a:xfrm>
          <a:prstGeom prst="rect">
            <a:avLst/>
          </a:prstGeom>
          <a:solidFill>
            <a:srgbClr val="08142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NURA GROUP · NURA ELECTRIC · NURA EPC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488375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Демонстрационные данные · 04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685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2D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СЕРДЦЕ ОБЪЕКТА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10515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Автотрансформатор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МВА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315200" y="2761488"/>
            <a:ext cx="50292" cy="530352"/>
          </a:xfrm>
          <a:prstGeom prst="rect">
            <a:avLst/>
          </a:prstGeom>
          <a:solidFill>
            <a:srgbClr val="2DD4E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98080" y="269748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Магнитопровод
</a:t>
            </a:r>
            <a:pPr indent="0" marL="0">
              <a:buNone/>
            </a:pPr>
            <a:r>
              <a:rPr lang="en-US" sz="115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шихтованная электротехническая сталь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0" y="3511296"/>
            <a:ext cx="50292" cy="530352"/>
          </a:xfrm>
          <a:prstGeom prst="rect">
            <a:avLst/>
          </a:prstGeom>
          <a:solidFill>
            <a:srgbClr val="2DD4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98080" y="344728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Обмотки 220 / 110 / 10 кВ
</a:t>
            </a:r>
            <a:pPr indent="0" marL="0">
              <a:buNone/>
            </a:pPr>
            <a:r>
              <a:rPr lang="en-US" sz="115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концентрическое исполнение, медь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0" y="4261104"/>
            <a:ext cx="50292" cy="530352"/>
          </a:xfrm>
          <a:prstGeom prst="rect">
            <a:avLst/>
          </a:prstGeom>
          <a:solidFill>
            <a:srgbClr val="2DD4E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498080" y="4197096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РПН
</a:t>
            </a:r>
            <a:pPr indent="0" marL="0">
              <a:buNone/>
            </a:pPr>
            <a:r>
              <a:rPr lang="en-US" sz="115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регулирование напряжения под нагрузкой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0" y="5010912"/>
            <a:ext cx="50292" cy="530352"/>
          </a:xfrm>
          <a:prstGeom prst="rect">
            <a:avLst/>
          </a:prstGeom>
          <a:solidFill>
            <a:srgbClr val="2DD4E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98080" y="494690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охлаждения
</a:t>
            </a:r>
            <a:pPr indent="0" marL="0">
              <a:buNone/>
            </a:pPr>
            <a:r>
              <a:rPr lang="en-US" sz="115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радиаторные батареи, режим ОНАН/ОНАФ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315200" y="5760720"/>
            <a:ext cx="50292" cy="530352"/>
          </a:xfrm>
          <a:prstGeom prst="rect">
            <a:avLst/>
          </a:prstGeom>
          <a:solidFill>
            <a:srgbClr val="2DD4E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498080" y="569671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Вводы 220 и 110 кВ
</a:t>
            </a:r>
            <a:pPr indent="0" marL="0">
              <a:buNone/>
            </a:pPr>
            <a:r>
              <a:rPr lang="en-US" sz="115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высоковольтные маслонаполненные изоляторы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NURA GROUP · NURA ELECTRIC · NURA EPC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488375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Демонстрационные данные · 05</a:t>
            </a:r>
            <a:endParaRPr lang="en-US" sz="900" dirty="0"/>
          </a:p>
        </p:txBody>
      </p:sp>
      <p:pic>
        <p:nvPicPr>
          <p:cNvPr id="4" name="Image 0" descr="/tmp/claude-0/pptx_assets/d_s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3320135" cy="5897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0" y="685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2D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 РАБОТАЕТ ОБЪЕКТ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892040" y="105156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выдачи мощности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983480" y="205740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0E2240"/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2120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148840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 220 кВ
</a:t>
            </a:r>
            <a:pPr indent="0" marL="0">
              <a:buNone/>
            </a:pPr>
            <a:r>
              <a:rPr lang="en-US" sz="115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питающие ВЛ 220 кВ на шины ОРУ-220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983480" y="3136392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0E2240"/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12080" y="3227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3227832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Трансформация
</a:t>
            </a:r>
            <a:pPr indent="0" marL="0">
              <a:buNone/>
            </a:pPr>
            <a:r>
              <a:rPr lang="en-US" sz="115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автотрансформатора 125 МВА, 220/110/10 кВ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983480" y="4215384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0E2240"/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12080" y="43068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4306824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110 кВ
</a:t>
            </a:r>
            <a:pPr indent="0" marL="0">
              <a:buNone/>
            </a:pPr>
            <a:r>
              <a:rPr lang="en-US" sz="115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отходящих ВЛ 110 кВ потребителям региона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983480" y="5294376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0E2240"/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12080" y="53858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5385816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 10 кВ
</a:t>
            </a:r>
            <a:pPr indent="0" marL="0">
              <a:buNone/>
            </a:pPr>
            <a:r>
              <a:rPr lang="en-US" sz="115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ЗРУ-10 кВ, две секции; собственные нужды и местная нагрузка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pptx_assets/r_bui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97880" cy="6858000"/>
          </a:xfrm>
          <a:prstGeom prst="rect">
            <a:avLst/>
          </a:prstGeom>
          <a:solidFill>
            <a:srgbClr val="08142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NURA GROUP · NURA ELECTRIC · NURA EPC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488375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Демонстрационные данные · 06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2D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ГРАФИК РЕАЛИЗАЦИИ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0515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месяцев — четыре этапа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0E2240"/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459736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Фундаменты и ЗОС
</a:t>
            </a:r>
            <a:pPr indent="0" marL="0">
              <a:buNone/>
            </a:pPr>
            <a:r>
              <a:rPr lang="en-US" sz="1100" dirty="0">
                <a:solidFill>
                  <a:srgbClr val="FF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мес 1–4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364992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0E2240"/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44728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Металлоконструкции и здания
</a:t>
            </a:r>
            <a:pPr indent="0" marL="0">
              <a:buNone/>
            </a:pPr>
            <a:r>
              <a:rPr lang="en-US" sz="1100" dirty="0">
                <a:solidFill>
                  <a:srgbClr val="FF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мес 4–9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4352544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0E2240"/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434840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 оборудования
</a:t>
            </a:r>
            <a:pPr indent="0" marL="0">
              <a:buNone/>
            </a:pPr>
            <a:r>
              <a:rPr lang="en-US" sz="1100" dirty="0">
                <a:solidFill>
                  <a:srgbClr val="FF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мес 8–14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8640" y="5340096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0E2240"/>
          </a:solidFill>
          <a:ln w="15240">
            <a:solidFill>
              <a:srgbClr val="FFB0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422392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Ошиновка и ПНР
</a:t>
            </a:r>
            <a:pPr indent="0" marL="0">
              <a:buNone/>
            </a:pPr>
            <a:r>
              <a:rPr lang="en-US" sz="1100" dirty="0">
                <a:solidFill>
                  <a:srgbClr val="FF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мес 13–18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NURA GROUP · NURA ELECTRIC · NURA EPC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488375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Демонстрационные данные · 07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2D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ИСПОЛНИТЕЛЬ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NURA EPC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0E2240"/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94560"/>
            <a:ext cx="566928" cy="566928"/>
          </a:xfrm>
          <a:prstGeom prst="ellipse">
            <a:avLst/>
          </a:prstGeom>
          <a:solidFill>
            <a:srgbClr val="081426"/>
          </a:solidFill>
          <a:ln w="12700">
            <a:solidFill>
              <a:srgbClr val="2DD4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304288"/>
            <a:ext cx="347472" cy="3474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22128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EPC-цикл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95528" y="28803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Проектирование, поставка, СМР и ПНР — единая ответственность одного подрядчика за срок, бюджет и качество.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9202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0E2240"/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2194560"/>
            <a:ext cx="566928" cy="566928"/>
          </a:xfrm>
          <a:prstGeom prst="ellipse">
            <a:avLst/>
          </a:prstGeom>
          <a:solidFill>
            <a:srgbClr val="081426"/>
          </a:solidFill>
          <a:ln w="12700">
            <a:solidFill>
              <a:srgbClr val="2DD4E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30428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23760" y="22128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Собственное производство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510528" y="28803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Шкафы РЗА, АСУ ТП и вторичной коммутации производства NURA ELECTRIC — контроль ключевой номенклатуры.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" y="42062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0E2240"/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7240" y="4480560"/>
            <a:ext cx="566928" cy="566928"/>
          </a:xfrm>
          <a:prstGeom prst="ellipse">
            <a:avLst/>
          </a:prstGeom>
          <a:solidFill>
            <a:srgbClr val="081426"/>
          </a:solidFill>
          <a:ln w="12700">
            <a:solidFill>
              <a:srgbClr val="2DD4E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59028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44988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Лицензии и сертификаты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795528" y="51663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пакет разрешительной документации на строительство объектов 10–500 кВ.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17920" y="42062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0E2240"/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92240" y="4480560"/>
            <a:ext cx="566928" cy="566928"/>
          </a:xfrm>
          <a:prstGeom prst="ellipse">
            <a:avLst/>
          </a:prstGeom>
          <a:solidFill>
            <a:srgbClr val="081426"/>
          </a:solidFill>
          <a:ln w="12700">
            <a:solidFill>
              <a:srgbClr val="2DD4E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59028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23760" y="44988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Широкая экспертиза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510528" y="51663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Подстанции, линии электропередачи, солнечные электростанции и системы накопления энергии (BESS).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NURA GROUP · NURA ELECTRIC · NURA EPC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488375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Демонстрационные данные · 08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2D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КОММЕРЧЕСКАЯ СТРУКТУРА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EPC + F</a:t>
            </a:r>
            <a:endParaRPr lang="en-US" sz="3000" dirty="0"/>
          </a:p>
        </p:txBody>
      </p:sp>
      <p:pic>
        <p:nvPicPr>
          <p:cNvPr id="6" name="Image 0" descr="/tmp/claude-0/pptx_assets/d_f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10607040" cy="4259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56875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Аванс заказчика
</a:t>
            </a:r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15 % · 7,3 млн USD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429000" y="56875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Финансирование
</a:t>
            </a:r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85 % · 41,2 млн USD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56875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погашения
</a:t>
            </a:r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лет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281160" y="56875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и срок
</a:t>
            </a:r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 EPC-контракту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pptx_assets/r_fi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81426">
              <a:alpha val="6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77240" y="1371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2D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СЛЕДУЮЩИЙ ШАГ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7830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Предлагаем перейти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деталям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47472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NURA EPC готова в течение 30 дней представить технико-экономическое обоснование и проект основных условий финансирования (term sheet) по данному объекту.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77240" y="4754880"/>
            <a:ext cx="3749040" cy="621792"/>
          </a:xfrm>
          <a:prstGeom prst="roundRect">
            <a:avLst>
              <a:gd name="adj" fmla="val 17647"/>
            </a:avLst>
          </a:prstGeom>
          <a:solidFill>
            <a:srgbClr val="FFB02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47548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ТЭО + term sheet — 30 дней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806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NURA GROUP · NURA ELECTRIC · NURA EPC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A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Демонстрационная презентация: все параметры и суммы являются примерными.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ПС «Истиклол» 220 кВ — EPC+F</dc:title>
  <dc:subject>PptxGenJS Presentation</dc:subject>
  <dc:creator>NURA EPC</dc:creator>
  <cp:lastModifiedBy>NURA EPC</cp:lastModifiedBy>
  <cp:revision>1</cp:revision>
  <dcterms:created xsi:type="dcterms:W3CDTF">2026-10-01T18:06:02Z</dcterms:created>
  <dcterms:modified xsi:type="dcterms:W3CDTF">2026-10-01T18:06:02Z</dcterms:modified>
</cp:coreProperties>
</file>